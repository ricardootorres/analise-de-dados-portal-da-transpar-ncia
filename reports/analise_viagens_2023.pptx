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Gasto (R$ milhões)</c:v>
                </c:pt>
              </c:strCache>
            </c:strRef>
          </c:tx>
          <c:spPr>
            <a:solidFill>
              <a:srgbClr val="C9713D"/>
            </a:solidFill>
            <a:effectLst/>
          </c:spPr>
          <c:invertIfNegative val="0"/>
          <c:dLbls>
            <c:numFmt formatCode="&quot;R$&quot;#,##0&quot; M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71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Sem informação</c:v>
                  </c:pt>
                  <c:pt idx="1">
                    <c:v>Ministério da
Justiça e Seg. Pública</c:v>
                  </c:pt>
                  <c:pt idx="2">
                    <c:v>Ministério da
Defesa</c:v>
                  </c:pt>
                  <c:pt idx="3">
                    <c:v>Ministério da
Educação</c:v>
                  </c:pt>
                  <c:pt idx="4">
                    <c:v>Ministério do Meio
Ambiente e M. Clima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684.8</c:v>
                </c:pt>
                <c:pt idx="1">
                  <c:v>319.7</c:v>
                </c:pt>
                <c:pt idx="2">
                  <c:v>302.9</c:v>
                </c:pt>
                <c:pt idx="3">
                  <c:v>270.7</c:v>
                </c:pt>
                <c:pt idx="4">
                  <c:v>113.4</c:v>
                </c:pt>
              </c:numCache>
            </c:numRef>
          </c:val>
        </c:ser>
        <c:dLbls>
          <c:numFmt formatCode="&quot;R$&quot;#,##0&quot; M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Nº de viagens</c:v>
                </c:pt>
              </c:strCache>
            </c:strRef>
          </c:tx>
          <c:spPr>
            <a:solidFill>
              <a:srgbClr val="C971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71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Sigilo</c:v>
                  </c:pt>
                  <c:pt idx="1">
                    <c:v>Brasília/DF</c:v>
                  </c:pt>
                  <c:pt idx="2">
                    <c:v>Rio de Janeiro/RJ</c:v>
                  </c:pt>
                  <c:pt idx="3">
                    <c:v>São Paulo/SP</c:v>
                  </c:pt>
                  <c:pt idx="4">
                    <c:v>São José dos
Campos/SP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118222</c:v>
                </c:pt>
                <c:pt idx="1">
                  <c:v>64288</c:v>
                </c:pt>
                <c:pt idx="2">
                  <c:v>26228</c:v>
                </c:pt>
                <c:pt idx="3">
                  <c:v>24621</c:v>
                </c:pt>
                <c:pt idx="4">
                  <c:v>12285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Gasto (R$ milhões)</c:v>
                </c:pt>
              </c:strCache>
            </c:strRef>
          </c:tx>
          <c:spPr>
            <a:solidFill>
              <a:srgbClr val="C9713D"/>
            </a:solidFill>
            <a:effectLst/>
          </c:spPr>
          <c:invertIfNegative val="0"/>
          <c:dLbls>
            <c:numFmt formatCode="&quot;R$&quot;#,##0&quot; M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71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Sigilo</c:v>
                  </c:pt>
                  <c:pt idx="1">
                    <c:v>Brasília/DF</c:v>
                  </c:pt>
                  <c:pt idx="2">
                    <c:v>Rio de Janeiro/RJ</c:v>
                  </c:pt>
                  <c:pt idx="3">
                    <c:v>São Paulo/SP</c:v>
                  </c:pt>
                  <c:pt idx="4">
                    <c:v>Manaus/AM</c:v>
                  </c:pt>
                  <c:pt idx="5">
                    <c:v>Foz do Iguaçu/PR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367</c:v>
                </c:pt>
                <c:pt idx="1">
                  <c:v>260</c:v>
                </c:pt>
                <c:pt idx="2">
                  <c:v>73.8</c:v>
                </c:pt>
                <c:pt idx="3">
                  <c:v>60.5</c:v>
                </c:pt>
                <c:pt idx="4">
                  <c:v>26.1</c:v>
                </c:pt>
                <c:pt idx="5">
                  <c:v>24.2</c:v>
                </c:pt>
              </c:numCache>
            </c:numRef>
          </c:val>
        </c:ser>
        <c:dLbls>
          <c:numFmt formatCode="&quot;R$&quot;#,##0&quot; M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Nº de viagens</c:v>
                </c:pt>
              </c:strCache>
            </c:strRef>
          </c:tx>
          <c:spPr>
            <a:solidFill>
              <a:srgbClr val="C971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71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Sigilo</c:v>
                  </c:pt>
                  <c:pt idx="1">
                    <c:v>Professor do Magistério
Superior</c:v>
                  </c:pt>
                  <c:pt idx="2">
                    <c:v>Professor Ens. Básico
Tecn. Tecnológico</c:v>
                  </c:pt>
                  <c:pt idx="3">
                    <c:v>Contratado
Lei 8745/93</c:v>
                  </c:pt>
                  <c:pt idx="4">
                    <c:v>Auditor Fiscal Federal
Agropecuário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118222</c:v>
                </c:pt>
                <c:pt idx="1">
                  <c:v>54570</c:v>
                </c:pt>
                <c:pt idx="2">
                  <c:v>37476</c:v>
                </c:pt>
                <c:pt idx="3">
                  <c:v>17787</c:v>
                </c:pt>
                <c:pt idx="4">
                  <c:v>16582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Gasto (R$ milhões)</c:v>
                </c:pt>
              </c:strCache>
            </c:strRef>
          </c:tx>
          <c:spPr>
            <a:solidFill>
              <a:srgbClr val="C9713D"/>
            </a:solidFill>
            <a:effectLst/>
          </c:spPr>
          <c:invertIfNegative val="0"/>
          <c:dLbls>
            <c:numFmt formatCode="&quot;R$&quot;#,##0&quot; M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71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Sigilo</c:v>
                  </c:pt>
                  <c:pt idx="1">
                    <c:v>Professor do Magistério
Superior</c:v>
                  </c:pt>
                  <c:pt idx="2">
                    <c:v>Professor Ens. Básico
Tecn. Tecnológico</c:v>
                  </c:pt>
                  <c:pt idx="3">
                    <c:v>Técnico do Seguro
Social</c:v>
                  </c:pt>
                  <c:pt idx="4">
                    <c:v>Analista Ambiental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367</c:v>
                </c:pt>
                <c:pt idx="1">
                  <c:v>109.9</c:v>
                </c:pt>
                <c:pt idx="2">
                  <c:v>52</c:v>
                </c:pt>
                <c:pt idx="3">
                  <c:v>45.4</c:v>
                </c:pt>
                <c:pt idx="4">
                  <c:v>34.9</c:v>
                </c:pt>
              </c:numCache>
            </c:numRef>
          </c:val>
        </c:ser>
        <c:dLbls>
          <c:numFmt formatCode="&quot;R$&quot;#,##0&quot; M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18205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DA TRANSPARÊNCIA · 2023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de Viagens a Serviço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Governo Federal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70332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de gastos, órgãos, cargos e destinos a partir dos dados públicos de viagens (tabela Viagem, 2023)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4572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826.989 viagens analisadas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6217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preparado a partir de dados abertos do Governo Federal.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e Metodologia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analisado e como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padrões de gasto em viagens a serviço: quais órgãos, cargos e destinos concentram maior custo e frequência.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1031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🗂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63440" y="28803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333756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abertos do Portal da Transparência — tabela Viagem, ano de 2023 (826.989 registros).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0" y="182880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3920" y="21031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8803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03920" y="333756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Exploração e limpeza dos dados em Python (pandas), seguidas de análise segmentada por 8 perguntas de negócio.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5349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Escopo: apenas a tabela Viagem foi utilizada nesta análise (as tabelas Passagem, Pagamento e Trecho não fizeram parte do escopo).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Viagens a Serviço — Portal da Transparência 2023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Órgãos que Mais Gastam com Viagens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total em despesas de viagem, por órgão superior — Top 5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828800"/>
            <a:ext cx="3794760" cy="2103120"/>
          </a:xfrm>
          <a:prstGeom prst="roundRect">
            <a:avLst>
              <a:gd name="adj" fmla="val 4348"/>
            </a:avLst>
          </a:prstGeom>
          <a:solidFill>
            <a:srgbClr val="FBEFE8"/>
          </a:solidFill>
          <a:ln w="12700">
            <a:solidFill>
              <a:srgbClr val="C971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01000" y="1965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713D"/>
                </a:solidFill>
              </a:rPr>
              <a:t>⚠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503920" y="19933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de qualidade de dado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01000" y="2423160"/>
            <a:ext cx="3429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"Sem informação" lidera o ranking com R$ 684,8 milhões — mais que o dobro do 2º colocado. Indica falha de preenchimento na origem do dado, não um órgão real. Mantido no ranking para expor o problema.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818120" y="4160520"/>
            <a:ext cx="3794760" cy="1874520"/>
          </a:xfrm>
          <a:prstGeom prst="roundRect">
            <a:avLst>
              <a:gd name="adj" fmla="val 4878"/>
            </a:avLst>
          </a:prstGeom>
          <a:solidFill>
            <a:srgbClr val="F4F6FB"/>
          </a:solidFill>
          <a:ln/>
        </p:spPr>
      </p:sp>
      <p:sp>
        <p:nvSpPr>
          <p:cNvPr id="10" name="Text 7"/>
          <p:cNvSpPr/>
          <p:nvPr/>
        </p:nvSpPr>
        <p:spPr>
          <a:xfrm>
            <a:off x="8001000" y="4297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01000" y="466344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Excluindo a categoria sem identificação, Justiça e Segurança Pública, Defesa e Educação concentram os maiores gastos com viagens em 2023.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Viagens a Serviço — Portal da Transparência 2023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Destinos Mais Frequentes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viagens por destino — com e sem os casos sob sigilo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828800"/>
            <a:ext cx="3794760" cy="1874520"/>
          </a:xfrm>
          <a:prstGeom prst="roundRect">
            <a:avLst>
              <a:gd name="adj" fmla="val 4878"/>
            </a:avLst>
          </a:prstGeom>
          <a:solidFill>
            <a:srgbClr val="FBEFE8"/>
          </a:solidFill>
          <a:ln w="12700">
            <a:solidFill>
              <a:srgbClr val="C971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01000" y="2011680"/>
            <a:ext cx="3429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118.222 viagens (14,3% do total) têm o destino registrado como "Informações protegidas por sigilo" — mesmo grupo de registros sigilosos observado em cargos e destinos.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818120" y="3931920"/>
            <a:ext cx="3794760" cy="2103120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ln/>
        </p:spPr>
      </p:sp>
      <p:sp>
        <p:nvSpPr>
          <p:cNvPr id="8" name="Text 5"/>
          <p:cNvSpPr/>
          <p:nvPr/>
        </p:nvSpPr>
        <p:spPr>
          <a:xfrm>
            <a:off x="8001000" y="4069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01000" y="443484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Removendo o sigilo, o ranking dos demais destinos não se altera: Brasília, capital administrativa, concentra disparadamente o maior número de viagens.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Viagens a Serviço — Portal da Transparência 2023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Destinos Mais Caros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total em despesas de viagem, por destino — com e sem sigilo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828800"/>
            <a:ext cx="3794760" cy="4206240"/>
          </a:xfrm>
          <a:prstGeom prst="roundRect">
            <a:avLst>
              <a:gd name="adj" fmla="val 2410"/>
            </a:avLst>
          </a:prstGeom>
          <a:solidFill>
            <a:srgbClr val="F4F6FB"/>
          </a:solidFill>
          <a:ln/>
        </p:spPr>
      </p:sp>
      <p:sp>
        <p:nvSpPr>
          <p:cNvPr id="6" name="Text 3"/>
          <p:cNvSpPr/>
          <p:nvPr/>
        </p:nvSpPr>
        <p:spPr>
          <a:xfrm>
            <a:off x="8001000" y="1965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01000" y="2377440"/>
            <a:ext cx="3429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Brasília domina também em custo, não só em volume.
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Manaus e Foz do Iguaçu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chamam atenção: não aparecem entre os destinos mais frequentes, mas entram no top de gasto — indício de viagens menos numerosas, porém mais caras (destinos mais distantes/isolados).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Viagens a Serviço — Portal da Transparência 2023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Cargos que Mais Viajam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viagens por cargo — Top 5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828800"/>
            <a:ext cx="3794760" cy="4206240"/>
          </a:xfrm>
          <a:prstGeom prst="roundRect">
            <a:avLst>
              <a:gd name="adj" fmla="val 2410"/>
            </a:avLst>
          </a:prstGeom>
          <a:solidFill>
            <a:srgbClr val="F4F6FB"/>
          </a:solidFill>
          <a:ln/>
        </p:spPr>
      </p:sp>
      <p:sp>
        <p:nvSpPr>
          <p:cNvPr id="6" name="Text 3"/>
          <p:cNvSpPr/>
          <p:nvPr/>
        </p:nvSpPr>
        <p:spPr>
          <a:xfrm>
            <a:off x="8001000" y="1965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01000" y="2377440"/>
            <a:ext cx="3429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o grupo sigiloso, o cargo com mais viagens é Professor do Magistério Superior — reflexo do peso de deslocamentos acadêmicos (congressos, bancas, intercâmbios) no total de viagens do governo federal.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001000" y="434340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C97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118.222 viagens (14,3%) estão associadas a cargos sob sigilo — mesmo grupo de registros observado nos destinos.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Viagens a Serviço — Portal da Transparência 2023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Duração das Viagens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5120640" cy="3931920"/>
          </a:xfrm>
          <a:prstGeom prst="roundRect">
            <a:avLst>
              <a:gd name="adj" fmla="val 3488"/>
            </a:avLst>
          </a:prstGeom>
          <a:solidFill>
            <a:srgbClr val="18205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8600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5,89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em média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206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 média de uma viagem a serviço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120640" cy="3931920"/>
          </a:xfrm>
          <a:prstGeom prst="roundRect">
            <a:avLst>
              <a:gd name="adj" fmla="val 3488"/>
            </a:avLst>
          </a:prstGeom>
          <a:solidFill>
            <a:srgbClr val="182050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228600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8400" dirty="0"/>
          </a:p>
        </p:txBody>
      </p:sp>
      <p:sp>
        <p:nvSpPr>
          <p:cNvPr id="10" name="Text 8"/>
          <p:cNvSpPr/>
          <p:nvPr/>
        </p:nvSpPr>
        <p:spPr>
          <a:xfrm>
            <a:off x="6263640" y="3703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(mediana)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63640" y="42062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 da viagem "típica" — metade das viagens dura 3 dias ou menos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5806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média é maior que a mediana porque poucas viagens muito longas (até 501 dias) puxam o valor médio para cima — a mediana representa melhor o caso comum.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Cargos com Mais Despesas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total em viagens por cargo — Top 5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828800"/>
            <a:ext cx="3794760" cy="4206240"/>
          </a:xfrm>
          <a:prstGeom prst="roundRect">
            <a:avLst>
              <a:gd name="adj" fmla="val 2410"/>
            </a:avLst>
          </a:prstGeom>
          <a:solidFill>
            <a:srgbClr val="F4F6FB"/>
          </a:solidFill>
          <a:ln/>
        </p:spPr>
      </p:sp>
      <p:sp>
        <p:nvSpPr>
          <p:cNvPr id="6" name="Text 3"/>
          <p:cNvSpPr/>
          <p:nvPr/>
        </p:nvSpPr>
        <p:spPr>
          <a:xfrm>
            <a:off x="8001000" y="1965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01000" y="2377440"/>
            <a:ext cx="3429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grupo sigiloso concentra R$ 367 milhões — mais que o triplo do 2º colocado. Fora ele, Professor do Magistério Superior segue no topo, tanto em frequência (slide 6) quanto em gasto total.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001000" y="448056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cargos de fiscalização (Auditores, Analista Ambiental) aparecem entre os mais caros, mas fora do top de frequência — viagens menos numerosas e mais custosas.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Viagens a Serviço — Portal da Transparência 2023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Qualidade dos Dados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tomadas e limitações a considerar na leitura dos resultados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202996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sob sigilo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14,3% das viagens (118.222) têm órgão, cargo e/ou destino ocultos por sigilo legal. Mantidos nos rankings para expor a extensão do problema, não removidos silenciosamente.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0" y="202996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"Sem informação" em órgãos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92240" y="260604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R$ 684,8 milhões em despesas estão associados a viagens sem órgão superior identificado — maior valor do ranking de gasto por órgão.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251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➖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422452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Despesas negativas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77240" y="480060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viagens têm despesa líquida negativa — todas por devolução maior que o valor recebido em diárias/passagens. Mantidas como estão: refletem devolução, não erro de dado.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40233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4251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0️⃣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32320" y="422452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Despesas zero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92240" y="480060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44.166 viagens (5,3%) têm despesa zero; 18,6% delas são "Não realizada" — proporção muito acima da média geral (2,0%), como esperado.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Viagens a Serviço — Portal da Transparência 2023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Conclusões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64592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Educação, Defesa e Justiça/Segurança Pública concentram os maiores gastos com viagens entre os órgãos identificados.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278892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Brasília domina como destino, tanto em frequência quanto em custo — esperado, dado seu papel administrativo.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776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393192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Cargos acadêmicos (professores) lideram em número de viagens; cargos de fiscalização aparecem entre os mais caros por viagem.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51206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507492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14,3% dos registros estão sob sigilo, e há falhas de preenchimento ("Sem informação") que merecem atenção em bases futuras.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completo (dados, notebooks e código): github.com/ricardootorres/Analise-de-dados-Portal-da-Transparencia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2026-09-25T13:17:14Z</dcterms:created>
  <dcterms:modified xsi:type="dcterms:W3CDTF">2026-09-25T13:17:14Z</dcterms:modified>
</cp:coreProperties>
</file>